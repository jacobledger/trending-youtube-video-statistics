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8" r:id="rId7"/>
    <p:sldId id="289" r:id="rId8"/>
    <p:sldId id="258" r:id="rId9"/>
    <p:sldId id="286" r:id="rId10"/>
    <p:sldId id="287" r:id="rId11"/>
    <p:sldId id="282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E9E6DF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655" autoAdjust="0"/>
  </p:normalViewPr>
  <p:slideViewPr>
    <p:cSldViewPr snapToGrid="0">
      <p:cViewPr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Views</c:v>
                </c:pt>
              </c:strCache>
            </c:strRef>
          </c:tx>
          <c:spPr>
            <a:solidFill>
              <a:srgbClr val="A052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439-4A1E-9C6D-E2E49DFCE34E}"/>
              </c:ext>
            </c:extLst>
          </c:dPt>
          <c:dPt>
            <c:idx val="1"/>
            <c:invertIfNegative val="0"/>
            <c:bubble3D val="0"/>
            <c:spPr>
              <a:solidFill>
                <a:srgbClr val="6B3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439-4A1E-9C6D-E2E49DFCE34E}"/>
              </c:ext>
            </c:extLst>
          </c:dPt>
          <c:dPt>
            <c:idx val="2"/>
            <c:invertIfNegative val="0"/>
            <c:bubble3D val="0"/>
            <c:spPr>
              <a:solidFill>
                <a:srgbClr val="4A7C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439-4A1E-9C6D-E2E49DFCE34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Polarization
(most disliked)</c:v>
                </c:pt>
                <c:pt idx="1">
                  <c:v>Mid Polarization</c:v>
                </c:pt>
                <c:pt idx="2">
                  <c:v>Low Polarization
(most liked)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426000</c:v>
                </c:pt>
                <c:pt idx="1">
                  <c:v>646000</c:v>
                </c:pt>
                <c:pt idx="2">
                  <c:v>562000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439-4A1E-9C6D-E2E49DFCE3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000"/>
        </c:scaling>
        <c:delete val="0"/>
        <c:axPos val="l"/>
        <c:majorGridlines>
          <c:spPr>
            <a:ln w="6350" cap="flat">
              <a:solidFill>
                <a:srgbClr val="D8D0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0E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Views</c:v>
                </c:pt>
              </c:strCache>
            </c:strRef>
          </c:tx>
          <c:spPr>
            <a:solidFill>
              <a:srgbClr val="6B3FA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Music</c:v>
                </c:pt>
                <c:pt idx="1">
                  <c:v>Comedy</c:v>
                </c:pt>
                <c:pt idx="2">
                  <c:v>Shows</c:v>
                </c:pt>
                <c:pt idx="3">
                  <c:v>Film</c:v>
                </c:pt>
                <c:pt idx="4">
                  <c:v>Entertainment</c:v>
                </c:pt>
                <c:pt idx="5">
                  <c:v>Gaming</c:v>
                </c:pt>
                <c:pt idx="6">
                  <c:v>Sci &amp; Tech</c:v>
                </c:pt>
                <c:pt idx="7">
                  <c:v>Sports</c:v>
                </c:pt>
                <c:pt idx="8">
                  <c:v>News &amp; Politics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1654199</c:v>
                </c:pt>
                <c:pt idx="1">
                  <c:v>784451</c:v>
                </c:pt>
                <c:pt idx="2">
                  <c:v>765522</c:v>
                </c:pt>
                <c:pt idx="3">
                  <c:v>726665</c:v>
                </c:pt>
                <c:pt idx="4">
                  <c:v>616420</c:v>
                </c:pt>
                <c:pt idx="5">
                  <c:v>462174</c:v>
                </c:pt>
                <c:pt idx="6">
                  <c:v>431057</c:v>
                </c:pt>
                <c:pt idx="7">
                  <c:v>376867</c:v>
                </c:pt>
                <c:pt idx="8">
                  <c:v>182160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F-47A7-9419-C01BE0E679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0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0EA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694A-DCEB-3100-A7B7-181A74C1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7E142-6E15-472B-0FA9-805ED1BDD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EA764-7D8A-8A68-8678-E5574B7F3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94F2C-EB36-E7A6-875F-78CE4AB6F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68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FEF9-FA83-B1F1-6782-34251368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666FE-48F2-18B6-FE8E-D3612ECCF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8CD74-109A-D13C-58FA-992F3E07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CEEC5-DCC6-4FE5-25A4-BBA9FFA5B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8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4042-4D12-5C4E-DE23-7C5168C6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B1E7E-2DA8-A269-D75D-B9DFAF1DD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CB855-B36F-1BBE-BB81-574B33F11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F38DF-DFD5-5342-459E-0B22375A4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03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2906880"/>
            <a:ext cx="5283236" cy="1656548"/>
          </a:xfrm>
        </p:spPr>
        <p:txBody>
          <a:bodyPr anchor="ctr"/>
          <a:lstStyle/>
          <a:p>
            <a:r>
              <a:rPr lang="en-US" b="1" kern="0" spc="200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TRENDING YOUTUBE VIDEO STATISTICS</a:t>
            </a:r>
            <a:endParaRPr lang="en-US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F35B10DE-1539-B00F-AFA4-6CD6A4985D50}"/>
              </a:ext>
            </a:extLst>
          </p:cNvPr>
          <p:cNvSpPr/>
          <p:nvPr/>
        </p:nvSpPr>
        <p:spPr>
          <a:xfrm>
            <a:off x="6441918" y="45634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polarizing videos get shared the most?</a:t>
            </a:r>
            <a:endParaRPr 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1CF0B814-0EED-D62B-45BA-419F6608130C}"/>
              </a:ext>
            </a:extLst>
          </p:cNvPr>
          <p:cNvSpPr/>
          <p:nvPr/>
        </p:nvSpPr>
        <p:spPr>
          <a:xfrm>
            <a:off x="6441918" y="531419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Ledger  ·  github.com/jacobledger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49D62DA-AE51-F5B4-B0D0-F7CBD85A8000}"/>
              </a:ext>
            </a:extLst>
          </p:cNvPr>
          <p:cNvSpPr/>
          <p:nvPr/>
        </p:nvSpPr>
        <p:spPr>
          <a:xfrm>
            <a:off x="740092" y="1059879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C4D6ADB-D4E9-5943-B4BB-5B1F2E02DD51}"/>
              </a:ext>
            </a:extLst>
          </p:cNvPr>
          <p:cNvSpPr/>
          <p:nvPr/>
        </p:nvSpPr>
        <p:spPr>
          <a:xfrm>
            <a:off x="740092" y="19659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exploratory analysis</a:t>
            </a:r>
            <a:endParaRPr lang="en-US" dirty="0"/>
          </a:p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metric definition</a:t>
            </a:r>
            <a:endParaRPr lang="en-US" dirty="0"/>
          </a:p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comparison: do polarizing videos get more views?</a:t>
            </a:r>
            <a:endParaRPr lang="en-US" dirty="0"/>
          </a:p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 &amp; regression modeling</a:t>
            </a:r>
            <a:endParaRPr lang="en-US" dirty="0"/>
          </a:p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>
            <a:extLst>
              <a:ext uri="{FF2B5EF4-FFF2-40B4-BE49-F238E27FC236}">
                <a16:creationId xmlns:a16="http://schemas.microsoft.com/office/drawing/2014/main" id="{326074AE-8B5F-4BA4-7247-0F7D505CD8F0}"/>
              </a:ext>
            </a:extLst>
          </p:cNvPr>
          <p:cNvSpPr/>
          <p:nvPr/>
        </p:nvSpPr>
        <p:spPr>
          <a:xfrm>
            <a:off x="2072640" y="822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i="1" kern="0" spc="2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44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81518054-6EF3-B62D-434F-C1B33020870E}"/>
              </a:ext>
            </a:extLst>
          </p:cNvPr>
          <p:cNvSpPr/>
          <p:nvPr/>
        </p:nvSpPr>
        <p:spPr>
          <a:xfrm>
            <a:off x="2072640" y="2194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F00066D4-675D-C561-33A0-92F3E606B3C0}"/>
              </a:ext>
            </a:extLst>
          </p:cNvPr>
          <p:cNvSpPr/>
          <p:nvPr/>
        </p:nvSpPr>
        <p:spPr>
          <a:xfrm>
            <a:off x="6187440" y="2194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91EE8BF4-EA6A-8C35-E7CA-C8BD23B40A77}"/>
              </a:ext>
            </a:extLst>
          </p:cNvPr>
          <p:cNvSpPr/>
          <p:nvPr/>
        </p:nvSpPr>
        <p:spPr>
          <a:xfrm>
            <a:off x="2072640" y="37490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2CBCDC7B-51B7-4841-7051-61629C8BEF07}"/>
              </a:ext>
            </a:extLst>
          </p:cNvPr>
          <p:cNvSpPr/>
          <p:nvPr/>
        </p:nvSpPr>
        <p:spPr>
          <a:xfrm>
            <a:off x="6187440" y="37490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83CA752B-BE43-5B4E-74EF-83A77C8976F1}"/>
              </a:ext>
            </a:extLst>
          </p:cNvPr>
          <p:cNvSpPr/>
          <p:nvPr/>
        </p:nvSpPr>
        <p:spPr>
          <a:xfrm>
            <a:off x="2072640" y="5394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daily snapshots — aggregated to one row per video using peak values to avoid double-counting.</a:t>
            </a:r>
            <a:endParaRPr lang="en-US" sz="1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8F44B73-C6EC-DAD9-4166-1A012E66DE13}"/>
              </a:ext>
            </a:extLst>
          </p:cNvPr>
          <p:cNvSpPr/>
          <p:nvPr/>
        </p:nvSpPr>
        <p:spPr>
          <a:xfrm>
            <a:off x="243840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40,949</a:t>
            </a:r>
            <a:endParaRPr lang="en-US" sz="3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887715A-F317-15C0-7DFD-0104AEE50EB6}"/>
              </a:ext>
            </a:extLst>
          </p:cNvPr>
          <p:cNvSpPr/>
          <p:nvPr/>
        </p:nvSpPr>
        <p:spPr>
          <a:xfrm>
            <a:off x="24384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Videos</a:t>
            </a:r>
            <a:endParaRPr lang="en-US" sz="13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47CA3007-2D75-3151-E645-9F361F9A1417}"/>
              </a:ext>
            </a:extLst>
          </p:cNvPr>
          <p:cNvSpPr/>
          <p:nvPr/>
        </p:nvSpPr>
        <p:spPr>
          <a:xfrm>
            <a:off x="243840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trending records</a:t>
            </a:r>
            <a:endParaRPr lang="en-US" sz="1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03CAF76-57E6-4097-C612-B7BD5CDFACB9}"/>
              </a:ext>
            </a:extLst>
          </p:cNvPr>
          <p:cNvSpPr/>
          <p:nvPr/>
        </p:nvSpPr>
        <p:spPr>
          <a:xfrm>
            <a:off x="655320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38,916</a:t>
            </a:r>
            <a:endParaRPr lang="en-US" sz="3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4B14709-41FF-5137-3271-440C6AE258B9}"/>
              </a:ext>
            </a:extLst>
          </p:cNvPr>
          <p:cNvSpPr/>
          <p:nvPr/>
        </p:nvSpPr>
        <p:spPr>
          <a:xfrm>
            <a:off x="65532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Videos</a:t>
            </a:r>
            <a:endParaRPr lang="en-US" sz="13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888DEFC-DCA0-A96F-2AE3-58A5EA61C18D}"/>
              </a:ext>
            </a:extLst>
          </p:cNvPr>
          <p:cNvSpPr/>
          <p:nvPr/>
        </p:nvSpPr>
        <p:spPr>
          <a:xfrm>
            <a:off x="655320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trending records</a:t>
            </a:r>
            <a:endParaRPr lang="en-US" sz="11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C048B74-6184-2D5E-9D13-CD506B590A9E}"/>
              </a:ext>
            </a:extLst>
          </p:cNvPr>
          <p:cNvSpPr/>
          <p:nvPr/>
        </p:nvSpPr>
        <p:spPr>
          <a:xfrm>
            <a:off x="243840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9,623</a:t>
            </a:r>
            <a:endParaRPr lang="en-US" sz="36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E428FDC-8711-C12C-7985-7876B16AE8A9}"/>
              </a:ext>
            </a:extLst>
          </p:cNvPr>
          <p:cNvSpPr/>
          <p:nvPr/>
        </p:nvSpPr>
        <p:spPr>
          <a:xfrm>
            <a:off x="243840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Videos</a:t>
            </a:r>
            <a:endParaRPr lang="en-US" sz="13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452B7B1-7AC7-36D1-A6FD-9EF84726F1F5}"/>
              </a:ext>
            </a:extLst>
          </p:cNvPr>
          <p:cNvSpPr/>
          <p:nvPr/>
        </p:nvSpPr>
        <p:spPr>
          <a:xfrm>
            <a:off x="243840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aggregation by video ID</a:t>
            </a:r>
            <a:endParaRPr lang="en-US" sz="1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5091EB6-6FFE-1B4B-CDFA-757D612124A9}"/>
              </a:ext>
            </a:extLst>
          </p:cNvPr>
          <p:cNvSpPr/>
          <p:nvPr/>
        </p:nvSpPr>
        <p:spPr>
          <a:xfrm>
            <a:off x="655320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6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D6367FE-8D2F-47F4-84B7-F0EF7FDC19E1}"/>
              </a:ext>
            </a:extLst>
          </p:cNvPr>
          <p:cNvSpPr/>
          <p:nvPr/>
        </p:nvSpPr>
        <p:spPr>
          <a:xfrm>
            <a:off x="655320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0C5A34D-DA83-9EF4-3120-9AD1F44581ED}"/>
              </a:ext>
            </a:extLst>
          </p:cNvPr>
          <p:cNvSpPr/>
          <p:nvPr/>
        </p:nvSpPr>
        <p:spPr>
          <a:xfrm>
            <a:off x="655320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 analyzed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70B8-90A8-FC60-E2A8-2B20934E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B29B-0EAA-B0B8-2914-881A25D9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D5B2131-E326-43FD-028E-43434A7783EC}"/>
              </a:ext>
            </a:extLst>
          </p:cNvPr>
          <p:cNvSpPr/>
          <p:nvPr/>
        </p:nvSpPr>
        <p:spPr>
          <a:xfrm>
            <a:off x="2410600" y="24497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CLIENT'S HYPOTHESIS</a:t>
            </a:r>
            <a:endParaRPr lang="en-US" sz="3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8C78D9F-E3D5-68F4-A829-B7BD8DE00F31}"/>
              </a:ext>
            </a:extLst>
          </p:cNvPr>
          <p:cNvSpPr/>
          <p:nvPr/>
        </p:nvSpPr>
        <p:spPr>
          <a:xfrm>
            <a:off x="3081932" y="2153917"/>
            <a:ext cx="7863840" cy="1371600"/>
          </a:xfrm>
          <a:prstGeom prst="rect">
            <a:avLst/>
          </a:prstGeom>
          <a:solidFill>
            <a:srgbClr val="6B3FA0">
              <a:alpha val="20000"/>
            </a:srgbClr>
          </a:solidFill>
          <a:ln w="254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D13D4BA-2B74-E45A-C87C-065072F424E7}"/>
              </a:ext>
            </a:extLst>
          </p:cNvPr>
          <p:cNvSpPr/>
          <p:nvPr/>
        </p:nvSpPr>
        <p:spPr>
          <a:xfrm>
            <a:off x="3264812" y="2199637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most polarizing videos get shared the most."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3113CB6-B9A8-55E2-66FD-ABF78D99E550}"/>
              </a:ext>
            </a:extLst>
          </p:cNvPr>
          <p:cNvSpPr/>
          <p:nvPr/>
        </p:nvSpPr>
        <p:spPr>
          <a:xfrm>
            <a:off x="3081932" y="448649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defined as: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likes-to-dislikes ratio (most dislikes relative to likes)
</a:t>
            </a:r>
            <a:r>
              <a:rPr lang="en-US" sz="1600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defined as: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 (best available proxy — direct share count not in dataset)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19922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A38B0C9-F7F7-6A58-2DBA-575538A6A5F1}"/>
              </a:ext>
            </a:extLst>
          </p:cNvPr>
          <p:cNvSpPr/>
          <p:nvPr/>
        </p:nvSpPr>
        <p:spPr>
          <a:xfrm>
            <a:off x="1658192" y="314096"/>
            <a:ext cx="9262872" cy="771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POLARIZATION DOES NOT DRIVE VIEWS</a:t>
            </a:r>
            <a:endParaRPr lang="en-US" sz="32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F283C22-1CBB-B6D1-7431-137BDB04B385}"/>
              </a:ext>
            </a:extLst>
          </p:cNvPr>
          <p:cNvSpPr/>
          <p:nvPr/>
        </p:nvSpPr>
        <p:spPr>
          <a:xfrm>
            <a:off x="1981200" y="117683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split into equal thirds by polarization tier. If the hypothesis held, High Polarization would have the most views.</a:t>
            </a:r>
            <a:endParaRPr lang="en-US" sz="13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2FFDC8A1-14BA-E998-63E6-1C735382DF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9045801"/>
              </p:ext>
            </p:extLst>
          </p:nvPr>
        </p:nvGraphicFramePr>
        <p:xfrm>
          <a:off x="1319514" y="1709192"/>
          <a:ext cx="6091156" cy="4564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8">
            <a:extLst>
              <a:ext uri="{FF2B5EF4-FFF2-40B4-BE49-F238E27FC236}">
                <a16:creationId xmlns:a16="http://schemas.microsoft.com/office/drawing/2014/main" id="{21F06289-079D-1994-6FA4-26E87B77B1DE}"/>
              </a:ext>
            </a:extLst>
          </p:cNvPr>
          <p:cNvSpPr/>
          <p:nvPr/>
        </p:nvSpPr>
        <p:spPr>
          <a:xfrm>
            <a:off x="7630150" y="170919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18EBE4-82F8-E3B2-759D-4C17F027B7FD}"/>
              </a:ext>
            </a:extLst>
          </p:cNvPr>
          <p:cNvSpPr/>
          <p:nvPr/>
        </p:nvSpPr>
        <p:spPr>
          <a:xfrm>
            <a:off x="7675870" y="1862635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</a:t>
            </a:r>
            <a:endParaRPr lang="en-US" sz="4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47F999-5941-CD4B-4138-942ED01AE91B}"/>
              </a:ext>
            </a:extLst>
          </p:cNvPr>
          <p:cNvSpPr/>
          <p:nvPr/>
        </p:nvSpPr>
        <p:spPr>
          <a:xfrm>
            <a:off x="7675870" y="2502715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ratio vs views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4C66DC3-F25C-381E-8098-A69B6C387607}"/>
              </a:ext>
            </a:extLst>
          </p:cNvPr>
          <p:cNvSpPr/>
          <p:nvPr/>
        </p:nvSpPr>
        <p:spPr>
          <a:xfrm>
            <a:off x="7630150" y="33093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E00F19-627A-B72A-E815-82AC74ACE6C7}"/>
              </a:ext>
            </a:extLst>
          </p:cNvPr>
          <p:cNvSpPr/>
          <p:nvPr/>
        </p:nvSpPr>
        <p:spPr>
          <a:xfrm>
            <a:off x="7675870" y="340083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Polarization has the LOWEST median views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(426K vs 646K for mid tier)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E8854-6AE5-F1A3-9315-9B5B220D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5024E93E-BEAB-B732-C94A-A3F9C1D2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7BAEB47-C9CF-D295-75A5-8D0022CDB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49EC6720-58F6-C811-D94D-7C24DDF8C0B9}"/>
              </a:ext>
            </a:extLst>
          </p:cNvPr>
          <p:cNvSpPr/>
          <p:nvPr/>
        </p:nvSpPr>
        <p:spPr>
          <a:xfrm>
            <a:off x="2247922" y="551047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IS THE REAL DRIVER</a:t>
            </a:r>
            <a:endParaRPr lang="en-US" sz="3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40C6613C-C47C-6DFB-4E1F-16A57CFC3EDB}"/>
              </a:ext>
            </a:extLst>
          </p:cNvPr>
          <p:cNvSpPr/>
          <p:nvPr/>
        </p:nvSpPr>
        <p:spPr>
          <a:xfrm>
            <a:off x="2143750" y="142185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dominates in median views — more than twice Comedy, the next category. News &amp; Politics ranks near the bottom despite being among the most polarizing content.</a:t>
            </a:r>
            <a:endParaRPr lang="en-US" sz="130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552CC01D-21A0-BA15-6C60-20879CAAC7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8127604"/>
              </p:ext>
            </p:extLst>
          </p:nvPr>
        </p:nvGraphicFramePr>
        <p:xfrm>
          <a:off x="1981199" y="1924778"/>
          <a:ext cx="9379703" cy="4279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6496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AAA8D-EF76-C189-4309-936F1EF5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8">
            <a:extLst>
              <a:ext uri="{FF2B5EF4-FFF2-40B4-BE49-F238E27FC236}">
                <a16:creationId xmlns:a16="http://schemas.microsoft.com/office/drawing/2014/main" id="{E3487FBB-22EE-82AD-9431-383978F5D1F9}"/>
              </a:ext>
            </a:extLst>
          </p:cNvPr>
          <p:cNvSpPr/>
          <p:nvPr/>
        </p:nvSpPr>
        <p:spPr>
          <a:xfrm>
            <a:off x="6873995" y="4645633"/>
            <a:ext cx="3657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F7316FCE-ABCF-A4EE-7EE9-2BBB70327799}"/>
              </a:ext>
            </a:extLst>
          </p:cNvPr>
          <p:cNvSpPr/>
          <p:nvPr/>
        </p:nvSpPr>
        <p:spPr>
          <a:xfrm>
            <a:off x="6873995" y="3415765"/>
            <a:ext cx="3657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FC14CF0-28C9-B70E-4B11-780D10567DF1}"/>
              </a:ext>
            </a:extLst>
          </p:cNvPr>
          <p:cNvSpPr/>
          <p:nvPr/>
        </p:nvSpPr>
        <p:spPr>
          <a:xfrm>
            <a:off x="6873995" y="2268193"/>
            <a:ext cx="3657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15B46C-DBB7-45E9-B546-49DE0FE4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69C82B5-163B-84C3-7137-22525703AA0E}"/>
              </a:ext>
            </a:extLst>
          </p:cNvPr>
          <p:cNvSpPr/>
          <p:nvPr/>
        </p:nvSpPr>
        <p:spPr>
          <a:xfrm>
            <a:off x="382797" y="387885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CONFIRMS THE FINDING</a:t>
            </a:r>
            <a:endParaRPr lang="en-US" sz="3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0ACABF7-6116-8B45-BFD2-E3A1F87C6353}"/>
              </a:ext>
            </a:extLst>
          </p:cNvPr>
          <p:cNvSpPr/>
          <p:nvPr/>
        </p:nvSpPr>
        <p:spPr>
          <a:xfrm>
            <a:off x="2209800" y="2249905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74BA637-487E-FEDF-B6C8-F116C8B6EFE4}"/>
              </a:ext>
            </a:extLst>
          </p:cNvPr>
          <p:cNvSpPr/>
          <p:nvPr/>
        </p:nvSpPr>
        <p:spPr>
          <a:xfrm>
            <a:off x="2438400" y="226819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3B78AD5-D61F-29FF-9A8D-D6892E8A3A58}"/>
              </a:ext>
            </a:extLst>
          </p:cNvPr>
          <p:cNvSpPr/>
          <p:nvPr/>
        </p:nvSpPr>
        <p:spPr>
          <a:xfrm>
            <a:off x="2438400" y="256994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category &amp; country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1A953F0-0170-AB93-23B8-F020DECFB258}"/>
              </a:ext>
            </a:extLst>
          </p:cNvPr>
          <p:cNvSpPr/>
          <p:nvPr/>
        </p:nvSpPr>
        <p:spPr>
          <a:xfrm>
            <a:off x="6974579" y="2428213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Higher dislike rate → slightly LOWER views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6F021F8-2A5C-3E88-0754-148B4931926F}"/>
              </a:ext>
            </a:extLst>
          </p:cNvPr>
          <p:cNvSpPr/>
          <p:nvPr/>
        </p:nvSpPr>
        <p:spPr>
          <a:xfrm>
            <a:off x="6974579" y="2757397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coeff: −0.38 log units (≈58% fewer views)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6C95643-F3BF-87E6-D3C7-707649C1BC1D}"/>
              </a:ext>
            </a:extLst>
          </p:cNvPr>
          <p:cNvSpPr/>
          <p:nvPr/>
        </p:nvSpPr>
        <p:spPr>
          <a:xfrm>
            <a:off x="2209800" y="3438625"/>
            <a:ext cx="64008" cy="914400"/>
          </a:xfrm>
          <a:prstGeom prst="rect">
            <a:avLst/>
          </a:prstGeom>
          <a:solidFill>
            <a:srgbClr val="C8B400"/>
          </a:solidFill>
          <a:ln w="12700">
            <a:solidFill>
              <a:srgbClr val="C8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584026E-2E45-34DA-78C5-9FFE227BB25C}"/>
              </a:ext>
            </a:extLst>
          </p:cNvPr>
          <p:cNvSpPr/>
          <p:nvPr/>
        </p:nvSpPr>
        <p:spPr>
          <a:xfrm>
            <a:off x="2438400" y="345691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2749E83-DD0C-465B-F1C1-439E772B2D76}"/>
              </a:ext>
            </a:extLst>
          </p:cNvPr>
          <p:cNvSpPr/>
          <p:nvPr/>
        </p:nvSpPr>
        <p:spPr>
          <a:xfrm>
            <a:off x="2438400" y="375866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log_likes as control (R² = 0.79)</a:t>
            </a:r>
            <a:endParaRPr lang="en-US" sz="1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4A7831B-6114-6F62-1F8F-03D7CDDC0F5D}"/>
              </a:ext>
            </a:extLst>
          </p:cNvPr>
          <p:cNvSpPr/>
          <p:nvPr/>
        </p:nvSpPr>
        <p:spPr>
          <a:xfrm>
            <a:off x="6974579" y="3530065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reverses — interpret cautiously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20AF288-E5FC-557A-818E-D4D91FF7154B}"/>
              </a:ext>
            </a:extLst>
          </p:cNvPr>
          <p:cNvSpPr/>
          <p:nvPr/>
        </p:nvSpPr>
        <p:spPr>
          <a:xfrm>
            <a:off x="6974579" y="3859249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and likes are causally linked; this is likely a proxy effect</a:t>
            </a:r>
            <a:endParaRPr lang="en-US" sz="11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FD2BF24-DE69-D095-D34E-758D75A76616}"/>
              </a:ext>
            </a:extLst>
          </p:cNvPr>
          <p:cNvSpPr/>
          <p:nvPr/>
        </p:nvSpPr>
        <p:spPr>
          <a:xfrm>
            <a:off x="2209800" y="4627345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547B9F8-D574-2036-98A3-D80FFDD0A0AF}"/>
              </a:ext>
            </a:extLst>
          </p:cNvPr>
          <p:cNvSpPr/>
          <p:nvPr/>
        </p:nvSpPr>
        <p:spPr>
          <a:xfrm>
            <a:off x="2438400" y="464563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3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83F9AA1-5BB4-58B7-8991-449BA9D37E25}"/>
              </a:ext>
            </a:extLst>
          </p:cNvPr>
          <p:cNvSpPr/>
          <p:nvPr/>
        </p:nvSpPr>
        <p:spPr>
          <a:xfrm>
            <a:off x="2438400" y="494738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vs dislike rate</a:t>
            </a:r>
            <a:endParaRPr lang="en-US" sz="12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F1D48E4-DC40-C389-318D-1A65EE39C3ED}"/>
              </a:ext>
            </a:extLst>
          </p:cNvPr>
          <p:cNvSpPr/>
          <p:nvPr/>
        </p:nvSpPr>
        <p:spPr>
          <a:xfrm>
            <a:off x="6974579" y="473250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Higher dislike rate → LOWER engagement</a:t>
            </a:r>
            <a:endParaRPr lang="en-US" sz="13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A4FD5A6-14E3-7EDE-127C-4FE35E378135}"/>
              </a:ext>
            </a:extLst>
          </p:cNvPr>
          <p:cNvSpPr/>
          <p:nvPr/>
        </p:nvSpPr>
        <p:spPr>
          <a:xfrm>
            <a:off x="6974579" y="5061685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coeff: −0.015  |  R² = 0.11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796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7">
            <a:extLst>
              <a:ext uri="{FF2B5EF4-FFF2-40B4-BE49-F238E27FC236}">
                <a16:creationId xmlns:a16="http://schemas.microsoft.com/office/drawing/2014/main" id="{5C586671-C160-4E15-C801-8003813FDA0C}"/>
              </a:ext>
            </a:extLst>
          </p:cNvPr>
          <p:cNvSpPr/>
          <p:nvPr/>
        </p:nvSpPr>
        <p:spPr>
          <a:xfrm>
            <a:off x="1601420" y="3954375"/>
            <a:ext cx="411480" cy="4114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DB3613CF-7E9B-1E97-CDC6-A7EDE924B045}"/>
              </a:ext>
            </a:extLst>
          </p:cNvPr>
          <p:cNvSpPr/>
          <p:nvPr/>
        </p:nvSpPr>
        <p:spPr>
          <a:xfrm>
            <a:off x="1601420" y="4868775"/>
            <a:ext cx="411480" cy="4114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6CBA8BE-E931-08DD-6FEB-CB298C7BA2FD}"/>
              </a:ext>
            </a:extLst>
          </p:cNvPr>
          <p:cNvSpPr/>
          <p:nvPr/>
        </p:nvSpPr>
        <p:spPr>
          <a:xfrm>
            <a:off x="2012900" y="754785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kern="0" spc="2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531B5308-D371-D28D-68C9-3550E52EB18C}"/>
              </a:ext>
            </a:extLst>
          </p:cNvPr>
          <p:cNvSpPr/>
          <p:nvPr/>
        </p:nvSpPr>
        <p:spPr>
          <a:xfrm>
            <a:off x="1601420" y="2116431"/>
            <a:ext cx="411480" cy="4114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EAE4CD4-BB9A-335E-1C58-5BBFB6177675}"/>
              </a:ext>
            </a:extLst>
          </p:cNvPr>
          <p:cNvSpPr/>
          <p:nvPr/>
        </p:nvSpPr>
        <p:spPr>
          <a:xfrm>
            <a:off x="2162150" y="2034135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does not support the hypothesis; polarizing videos do not get more views.</a:t>
            </a:r>
            <a:endParaRPr lang="en-US" sz="14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EBB4C20-C9EF-9D8B-64F2-04637D79E7EA}"/>
              </a:ext>
            </a:extLst>
          </p:cNvPr>
          <p:cNvSpPr/>
          <p:nvPr/>
        </p:nvSpPr>
        <p:spPr>
          <a:xfrm>
            <a:off x="1601420" y="3030831"/>
            <a:ext cx="411480" cy="4114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D6DBCDD5-0891-FB01-8FA3-599BDCF63226}"/>
              </a:ext>
            </a:extLst>
          </p:cNvPr>
          <p:cNvSpPr/>
          <p:nvPr/>
        </p:nvSpPr>
        <p:spPr>
          <a:xfrm>
            <a:off x="2162150" y="2948535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correlate strongly with total interaction volume (likes 0.87, dislikes 0.87, comments 0.78), not with the ratio between them.</a:t>
            </a:r>
            <a:endParaRPr lang="en-US" sz="14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89A48EE-93ED-75C2-C9DF-9EAF88C6C868}"/>
              </a:ext>
            </a:extLst>
          </p:cNvPr>
          <p:cNvSpPr/>
          <p:nvPr/>
        </p:nvSpPr>
        <p:spPr>
          <a:xfrm>
            <a:off x="1601420" y="394523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C59AFE2A-F346-DE5E-2B20-D4D0A9CC27FC}"/>
              </a:ext>
            </a:extLst>
          </p:cNvPr>
          <p:cNvSpPr/>
          <p:nvPr/>
        </p:nvSpPr>
        <p:spPr>
          <a:xfrm>
            <a:off x="2162150" y="3862935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the strongest predictor of reach - Music outperforms all others by 2×.</a:t>
            </a:r>
            <a:endParaRPr lang="en-US" sz="14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2CD8FB2E-ACF7-41A4-A5AF-E33DB4ABFCF2}"/>
              </a:ext>
            </a:extLst>
          </p:cNvPr>
          <p:cNvSpPr/>
          <p:nvPr/>
        </p:nvSpPr>
        <p:spPr>
          <a:xfrm>
            <a:off x="1601420" y="485963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E6AFD8C-6C57-9D9F-7EEA-0146B849EFC7}"/>
              </a:ext>
            </a:extLst>
          </p:cNvPr>
          <p:cNvSpPr/>
          <p:nvPr/>
        </p:nvSpPr>
        <p:spPr>
          <a:xfrm>
            <a:off x="2162150" y="4777335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content strategy should target category fit, not controversy.</a:t>
            </a:r>
            <a:endParaRPr lang="en-US" sz="14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64696602-BD6A-1508-2137-3CDC43B7F31D}"/>
              </a:ext>
            </a:extLst>
          </p:cNvPr>
          <p:cNvSpPr/>
          <p:nvPr/>
        </p:nvSpPr>
        <p:spPr>
          <a:xfrm>
            <a:off x="2012900" y="5650587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true share metrics, sentiment analysis on titles/tags, trending time patterns</a:t>
            </a:r>
            <a:endParaRPr lang="en-US" sz="10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23D2891-3B3F-53B7-3DF1-7E82601F8B1A}"/>
              </a:ext>
            </a:extLst>
          </p:cNvPr>
          <p:cNvSpPr/>
          <p:nvPr/>
        </p:nvSpPr>
        <p:spPr>
          <a:xfrm>
            <a:off x="1601420" y="211643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E43B7155-7C5B-6B99-C269-059AC8F38989}"/>
              </a:ext>
            </a:extLst>
          </p:cNvPr>
          <p:cNvSpPr/>
          <p:nvPr/>
        </p:nvSpPr>
        <p:spPr>
          <a:xfrm>
            <a:off x="1601420" y="303083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EB270D6-4CA0-8153-8F9B-7C4776EEFA0F}"/>
              </a:ext>
            </a:extLst>
          </p:cNvPr>
          <p:cNvSpPr/>
          <p:nvPr/>
        </p:nvSpPr>
        <p:spPr>
          <a:xfrm>
            <a:off x="4114800" y="1534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1AA24A6-9AFE-1764-B82B-FBB30896F9D2}"/>
              </a:ext>
            </a:extLst>
          </p:cNvPr>
          <p:cNvSpPr/>
          <p:nvPr/>
        </p:nvSpPr>
        <p:spPr>
          <a:xfrm>
            <a:off x="4114800" y="3429001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Ledger</a:t>
            </a:r>
            <a:endParaRPr lang="en-US" sz="16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DDDDF0E-F807-EA6A-1CA2-E0E314A7B666}"/>
              </a:ext>
            </a:extLst>
          </p:cNvPr>
          <p:cNvSpPr/>
          <p:nvPr/>
        </p:nvSpPr>
        <p:spPr>
          <a:xfrm>
            <a:off x="4114800" y="3931921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github.com/jacobledger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{D2D2E34D-B986-4117-97AE-D667F552623C}TF7521aafa-c748-4c40-a498-ba511be234dc5b1b6097_win32-5039330bb2f3</Template>
  <TotalTime>311</TotalTime>
  <Words>424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</vt:lpstr>
      <vt:lpstr>Tenorite</vt:lpstr>
      <vt:lpstr>Custom</vt:lpstr>
      <vt:lpstr>TRENDING YOUTUBE VIDEO 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Ledger</dc:creator>
  <cp:lastModifiedBy>Jacob Ledger</cp:lastModifiedBy>
  <cp:revision>8</cp:revision>
  <dcterms:created xsi:type="dcterms:W3CDTF">2026-01-26T17:47:11Z</dcterms:created>
  <dcterms:modified xsi:type="dcterms:W3CDTF">2026-03-23T15:26:07Z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